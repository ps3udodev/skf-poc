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4" r:id="rId17"/>
    <p:sldId id="265" r:id="rId18"/>
    <p:sldId id="266" r:id="rId19"/>
  </p:sldIdLst>
  <p:sldSz cy="10287000" cx="18288000"/>
  <p:notesSz cx="6858000" cy="9144000"/>
  <p:embeddedFontLst>
    <p:embeddedFont>
      <p:font typeface="Lato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rHFF7J4dkuUJMyX+K7bxhpCFY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font" Target="fonts/Lato-bold.fntdata"/><Relationship Id="rId15" Type="http://schemas.openxmlformats.org/officeDocument/2006/relationships/font" Target="fonts/Lato-boldItalic.fntdata"/><Relationship Id="rId16" Type="http://customschemas.google.com/relationships/presentationmetadata" Target="metadata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85800" y="5989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6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AC82D"/>
                </a:solidFill>
              </a:rPr>
              <a:t>SKF MÉXICO — SERVICIO AL CLIENTE</a:t>
            </a:r>
            <a:endParaRPr b="1" i="0" sz="8815" u="none" cap="none" strike="noStrike">
              <a:solidFill>
                <a:srgbClr val="BAC8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85800" y="6537960"/>
            <a:ext cx="1508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2B629E"/>
                </a:solidFill>
              </a:rPr>
              <a:t>Roadmap del Proyecto</a:t>
            </a:r>
            <a:endParaRPr b="0" i="0" sz="11195" u="none" cap="none" strike="noStrike">
              <a:solidFill>
                <a:srgbClr val="2B62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7818120"/>
            <a:ext cx="1463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92B2D"/>
                </a:solidFill>
                <a:latin typeface="Arial"/>
                <a:ea typeface="Arial"/>
                <a:cs typeface="Arial"/>
                <a:sym typeface="Arial"/>
              </a:rPr>
              <a:t>Optimización de Cotizaciones y Atención al Cliente con IA</a:t>
            </a:r>
            <a:endParaRPr b="0" i="0" sz="2100" u="none" cap="none" strike="noStrike">
              <a:solidFill>
                <a:srgbClr val="292B2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sz="2400">
                <a:solidFill>
                  <a:srgbClr val="292B2D"/>
                </a:solidFill>
                <a:latin typeface="Arial"/>
              </a:rPr>
              <a:t>Servicio al Cliente e Inventario · SKF México</a:t>
            </a:r>
          </a:p>
          <a:p>
            <a:pPr algn="l">
              <a:spcBef>
                <a:spcPts val="1400"/>
              </a:spcBef>
            </a:pPr>
            <a:r>
              <a:rPr sz="1800" i="1">
                <a:solidFill>
                  <a:srgbClr val="6B6B6B"/>
                </a:solidFill>
                <a:latin typeface="Arial"/>
              </a:rPr>
              <a:t>19 semanas · 3 de agosto – 13 de diciembre de 2026</a:t>
            </a:r>
          </a:p>
        </p:txBody>
      </p:sp>
      <p:sp>
        <p:nvSpPr>
          <p:cNvPr id="87" name="Google Shape;87;p1"/>
          <p:cNvSpPr/>
          <p:nvPr/>
        </p:nvSpPr>
        <p:spPr>
          <a:xfrm rot="10800000">
            <a:off x="12020200" y="-1392773"/>
            <a:ext cx="7502012" cy="7855510"/>
          </a:xfrm>
          <a:custGeom>
            <a:rect b="b" l="l" r="r" t="t"/>
            <a:pathLst>
              <a:path extrusionOk="0" h="7855510" w="7502012">
                <a:moveTo>
                  <a:pt x="7502012" y="7855510"/>
                </a:moveTo>
                <a:lnTo>
                  <a:pt x="0" y="7855510"/>
                </a:lnTo>
                <a:lnTo>
                  <a:pt x="0" y="0"/>
                </a:lnTo>
                <a:lnTo>
                  <a:pt x="7502012" y="0"/>
                </a:lnTo>
                <a:lnTo>
                  <a:pt x="7502012" y="785551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8" name="Google Shape;8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5000625" cy="5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F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1377080d8_0_3"/>
          <p:cNvSpPr/>
          <p:nvPr/>
        </p:nvSpPr>
        <p:spPr>
          <a:xfrm rot="10800000">
            <a:off x="12346385" y="-732581"/>
            <a:ext cx="7502012" cy="7855510"/>
          </a:xfrm>
          <a:custGeom>
            <a:rect b="b" l="l" r="r" t="t"/>
            <a:pathLst>
              <a:path extrusionOk="0" h="7855510" w="7502012">
                <a:moveTo>
                  <a:pt x="7502012" y="7855510"/>
                </a:moveTo>
                <a:lnTo>
                  <a:pt x="0" y="7855510"/>
                </a:lnTo>
                <a:lnTo>
                  <a:pt x="0" y="0"/>
                </a:lnTo>
                <a:lnTo>
                  <a:pt x="7502012" y="0"/>
                </a:lnTo>
                <a:lnTo>
                  <a:pt x="7502012" y="785551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g391377080d8_0_3"/>
          <p:cNvSpPr/>
          <p:nvPr/>
        </p:nvSpPr>
        <p:spPr>
          <a:xfrm>
            <a:off x="-1608699" y="3728150"/>
            <a:ext cx="7502012" cy="7855510"/>
          </a:xfrm>
          <a:custGeom>
            <a:rect b="b" l="l" r="r" t="t"/>
            <a:pathLst>
              <a:path extrusionOk="0" h="7855510" w="7502012">
                <a:moveTo>
                  <a:pt x="7502012" y="7855510"/>
                </a:moveTo>
                <a:lnTo>
                  <a:pt x="0" y="7855510"/>
                </a:lnTo>
                <a:lnTo>
                  <a:pt x="0" y="0"/>
                </a:lnTo>
                <a:lnTo>
                  <a:pt x="7502012" y="0"/>
                </a:lnTo>
                <a:lnTo>
                  <a:pt x="7502012" y="785551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g391377080d8_0_3"/>
          <p:cNvSpPr txBox="1"/>
          <p:nvPr/>
        </p:nvSpPr>
        <p:spPr>
          <a:xfrm>
            <a:off x="3482715" y="8778038"/>
            <a:ext cx="1346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92B2D"/>
                </a:solidFill>
                <a:latin typeface="Arial"/>
                <a:ea typeface="Arial"/>
                <a:cs typeface="Arial"/>
                <a:sym typeface="Arial"/>
              </a:rPr>
              <a:t>@TEAMS4SOFT</a:t>
            </a:r>
            <a:endParaRPr b="0" i="0" sz="2100" u="none" cap="none" strike="noStrike">
              <a:solidFill>
                <a:srgbClr val="292B2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91377080d8_0_3"/>
          <p:cNvSpPr txBox="1"/>
          <p:nvPr/>
        </p:nvSpPr>
        <p:spPr>
          <a:xfrm>
            <a:off x="0" y="0"/>
            <a:ext cx="1280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BAC82D"/>
                </a:solidFill>
              </a:rPr>
              <a:t>ROADMAP DEL PROYECTO — SERVICIO AL CLIENTE · SKF</a:t>
            </a:r>
            <a:endParaRPr b="1" sz="4400">
              <a:solidFill>
                <a:srgbClr val="BAC82D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0" y="96012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292B2D"/>
                </a:solidFill>
                <a:latin typeface="Arial"/>
              </a:rPr>
              <a:t>19 semanas · 3 de agosto – 13 de diciembre de 2026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85800" y="1737360"/>
            <a:ext cx="16916400" cy="6949440"/>
          </a:xfrm>
          <a:prstGeom prst="roundRect">
            <a:avLst>
              <a:gd name="adj" fmla="val 1500"/>
            </a:avLst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51132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32357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613583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994808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76033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757258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138484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4519709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5900934" y="2057400"/>
            <a:ext cx="690612" cy="4233672"/>
          </a:xfrm>
          <a:prstGeom prst="rect">
            <a:avLst/>
          </a:prstGeom>
          <a:solidFill>
            <a:srgbClr val="EC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60520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51132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41745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32357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22970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13583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04195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94808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85421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76033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066646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757258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447871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138484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829096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519709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210322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900934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6591547" y="2057400"/>
            <a:ext cx="690612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Arial"/>
              </a:rPr>
              <a:t>19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4160520" y="2350008"/>
            <a:ext cx="1312164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160520" y="1755648"/>
            <a:ext cx="41436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AA7C7"/>
                </a:solidFill>
                <a:latin typeface="Arial"/>
              </a:rPr>
              <a:t>AGOSTO–SEPTIEMBRE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04195" y="1755648"/>
            <a:ext cx="1381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AA7C7"/>
                </a:solidFill>
                <a:latin typeface="Arial"/>
              </a:rPr>
              <a:t>SEPTIEMBRE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85421" y="1755648"/>
            <a:ext cx="41436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AA7C7"/>
                </a:solidFill>
                <a:latin typeface="Arial"/>
              </a:rPr>
              <a:t>SEPTIEMBRE–NOVIEMBRE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829096" y="1755648"/>
            <a:ext cx="20718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AA7C7"/>
                </a:solidFill>
                <a:latin typeface="Arial"/>
              </a:rPr>
              <a:t>NOVIEMBRE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900934" y="1755648"/>
            <a:ext cx="1381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AA7C7"/>
                </a:solidFill>
                <a:latin typeface="Arial"/>
              </a:rPr>
              <a:t>NOV–DIC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05840" y="2487168"/>
            <a:ext cx="30175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500">
                <a:solidFill>
                  <a:srgbClr val="1F3864"/>
                </a:solidFill>
                <a:latin typeface="Arial"/>
              </a:rPr>
              <a:t>Fase 1</a:t>
            </a:r>
          </a:p>
          <a:p>
            <a:r>
              <a:rPr sz="1100">
                <a:solidFill>
                  <a:srgbClr val="6B6B6B"/>
                </a:solidFill>
                <a:latin typeface="Arial"/>
              </a:rPr>
              <a:t>Levantamiento y Análisis (T&amp;M)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160520" y="2542032"/>
            <a:ext cx="4143675" cy="548640"/>
          </a:xfrm>
          <a:prstGeom prst="roundRect">
            <a:avLst>
              <a:gd name="adj" fmla="val 18000"/>
            </a:avLst>
          </a:prstGeom>
          <a:solidFill>
            <a:srgbClr val="BAC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60520" y="2542032"/>
            <a:ext cx="41436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 ago – 13 sep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" y="3273551"/>
            <a:ext cx="30175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500">
                <a:solidFill>
                  <a:srgbClr val="1F3864"/>
                </a:solidFill>
                <a:latin typeface="Arial"/>
              </a:rPr>
              <a:t>Fase 2</a:t>
            </a:r>
          </a:p>
          <a:p>
            <a:r>
              <a:rPr sz="1100">
                <a:solidFill>
                  <a:srgbClr val="6B6B6B"/>
                </a:solidFill>
                <a:latin typeface="Arial"/>
              </a:rPr>
              <a:t>Diseño de la solución y arquitectura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304195" y="3328415"/>
            <a:ext cx="1381225" cy="548640"/>
          </a:xfrm>
          <a:prstGeom prst="roundRect">
            <a:avLst>
              <a:gd name="adj" fmla="val 18000"/>
            </a:avLst>
          </a:prstGeom>
          <a:solidFill>
            <a:srgbClr val="2B6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304195" y="3328415"/>
            <a:ext cx="138122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14 – 27 sep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5840" y="4059935"/>
            <a:ext cx="30175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500">
                <a:solidFill>
                  <a:srgbClr val="1F3864"/>
                </a:solidFill>
                <a:latin typeface="Arial"/>
              </a:rPr>
              <a:t>Fase 3</a:t>
            </a:r>
          </a:p>
          <a:p>
            <a:r>
              <a:rPr sz="1100">
                <a:solidFill>
                  <a:srgbClr val="6B6B6B"/>
                </a:solidFill>
                <a:latin typeface="Arial"/>
              </a:rPr>
              <a:t>Desarrollo del MVP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685421" y="4114799"/>
            <a:ext cx="4143675" cy="54864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685421" y="4114799"/>
            <a:ext cx="41436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28 sep – 8 nov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5840" y="4846320"/>
            <a:ext cx="30175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500">
                <a:solidFill>
                  <a:srgbClr val="1F3864"/>
                </a:solidFill>
                <a:latin typeface="Arial"/>
              </a:rPr>
              <a:t>Fase 4</a:t>
            </a:r>
          </a:p>
          <a:p>
            <a:r>
              <a:rPr sz="1100">
                <a:solidFill>
                  <a:srgbClr val="6B6B6B"/>
                </a:solidFill>
                <a:latin typeface="Arial"/>
              </a:rPr>
              <a:t>Piloto con Servicio al Cliente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3829096" y="4901183"/>
            <a:ext cx="2071837" cy="548640"/>
          </a:xfrm>
          <a:prstGeom prst="roundRect">
            <a:avLst>
              <a:gd name="adj" fmla="val 18000"/>
            </a:avLst>
          </a:prstGeom>
          <a:solidFill>
            <a:srgbClr val="5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3829096" y="4901183"/>
            <a:ext cx="207183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9 – 29 nov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05840" y="5632704"/>
            <a:ext cx="3017520" cy="6583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b="1" sz="1500">
                <a:solidFill>
                  <a:srgbClr val="1F3864"/>
                </a:solidFill>
                <a:latin typeface="Arial"/>
              </a:rPr>
              <a:t>Fase 5</a:t>
            </a:r>
          </a:p>
          <a:p>
            <a:r>
              <a:rPr sz="1100">
                <a:solidFill>
                  <a:srgbClr val="6B6B6B"/>
                </a:solidFill>
                <a:latin typeface="Arial"/>
              </a:rPr>
              <a:t>Despliegue y estabilización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5900934" y="5687568"/>
            <a:ext cx="1381225" cy="548640"/>
          </a:xfrm>
          <a:prstGeom prst="roundRect">
            <a:avLst>
              <a:gd name="adj" fmla="val 18000"/>
            </a:avLst>
          </a:prstGeom>
          <a:solidFill>
            <a:srgbClr val="8C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900934" y="5687568"/>
            <a:ext cx="138122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30 nov – 13 dic</a:t>
            </a:r>
          </a:p>
        </p:txBody>
      </p:sp>
      <p:sp>
        <p:nvSpPr>
          <p:cNvPr id="157" name="Diamond 156"/>
          <p:cNvSpPr/>
          <p:nvPr/>
        </p:nvSpPr>
        <p:spPr>
          <a:xfrm>
            <a:off x="4069080" y="2249423"/>
            <a:ext cx="182880" cy="182880"/>
          </a:xfrm>
          <a:prstGeom prst="diamond">
            <a:avLst/>
          </a:prstGeom>
          <a:solidFill>
            <a:srgbClr val="BAC82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4160520" y="2340863"/>
            <a:ext cx="0" cy="3950209"/>
          </a:xfrm>
          <a:prstGeom prst="line">
            <a:avLst/>
          </a:prstGeom>
          <a:ln w="12700">
            <a:solidFill>
              <a:srgbClr val="BAC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Diamond 158"/>
          <p:cNvSpPr/>
          <p:nvPr/>
        </p:nvSpPr>
        <p:spPr>
          <a:xfrm>
            <a:off x="15809494" y="2249423"/>
            <a:ext cx="182880" cy="18288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15900934" y="2340863"/>
            <a:ext cx="0" cy="3950209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Diamond 160"/>
          <p:cNvSpPr/>
          <p:nvPr/>
        </p:nvSpPr>
        <p:spPr>
          <a:xfrm>
            <a:off x="17190719" y="2249423"/>
            <a:ext cx="182880" cy="182880"/>
          </a:xfrm>
          <a:prstGeom prst="diamond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17282160" y="2340863"/>
            <a:ext cx="0" cy="3950209"/>
          </a:xfrm>
          <a:prstGeom prst="line">
            <a:avLst/>
          </a:prstGeom>
          <a:ln w="127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Diamond 162"/>
          <p:cNvSpPr/>
          <p:nvPr/>
        </p:nvSpPr>
        <p:spPr>
          <a:xfrm>
            <a:off x="1005840" y="6611112"/>
            <a:ext cx="128016" cy="128016"/>
          </a:xfrm>
          <a:prstGeom prst="diamond">
            <a:avLst/>
          </a:prstGeom>
          <a:solidFill>
            <a:srgbClr val="BAC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07008" y="6565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92B2D"/>
                </a:solidFill>
                <a:latin typeface="Arial"/>
              </a:rPr>
              <a:t>Kickoff de la Fase 1 (inicio semana 1)</a:t>
            </a:r>
          </a:p>
        </p:txBody>
      </p:sp>
      <p:sp>
        <p:nvSpPr>
          <p:cNvPr id="165" name="Diamond 164"/>
          <p:cNvSpPr/>
          <p:nvPr/>
        </p:nvSpPr>
        <p:spPr>
          <a:xfrm>
            <a:off x="4754879" y="6611112"/>
            <a:ext cx="128016" cy="128016"/>
          </a:xfrm>
          <a:prstGeom prst="diamond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956047" y="65653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92B2D"/>
                </a:solidFill>
                <a:latin typeface="Arial"/>
              </a:rPr>
              <a:t>Hito 1 — Resultados del piloto (fin semana 17, ≈29 nov)</a:t>
            </a:r>
          </a:p>
        </p:txBody>
      </p:sp>
      <p:sp>
        <p:nvSpPr>
          <p:cNvPr id="167" name="Diamond 166"/>
          <p:cNvSpPr/>
          <p:nvPr/>
        </p:nvSpPr>
        <p:spPr>
          <a:xfrm>
            <a:off x="11064240" y="6611112"/>
            <a:ext cx="128016" cy="128016"/>
          </a:xfrm>
          <a:prstGeom prst="diamond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265408" y="6565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92B2D"/>
                </a:solidFill>
                <a:latin typeface="Arial"/>
              </a:rPr>
              <a:t>Hito 2 — MVP en operación (semana 19, ≈13 dic)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05840" y="6931152"/>
            <a:ext cx="1627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Arial"/>
              </a:rPr>
              <a:t>Fase 1 (dorada, 6 semanas) se cotiza por tiempo y esfuerzo; Fases 2–5 (azules) se cotizan como alcance cerrado al cierre de la Fase 1, incluyendo el chatbot y el buscador/validador de designaciones.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737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AC82D"/>
                </a:solidFill>
                <a:latin typeface="Arial"/>
              </a:rPr>
              <a:t>ARQUITECTURA DE LA SOLUCIÓN — INTEGRACIÓN VÍA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32688"/>
            <a:ext cx="1691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292B2D"/>
                </a:solidFill>
                <a:latin typeface="Arial"/>
              </a:rPr>
              <a:t>Arquitectura propuesta asumiendo disponibilidad de APIs en WCL, SPQ+, PinQ e inventario — Servicio al Cliente SKF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6916400" cy="7772400"/>
          </a:xfrm>
          <a:prstGeom prst="roundRect">
            <a:avLst>
              <a:gd name="adj" fmla="val 1500"/>
            </a:avLst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627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1. Fuentes de datos (vía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240280"/>
            <a:ext cx="3094329" cy="1159002"/>
          </a:xfrm>
          <a:prstGeom prst="roundRect">
            <a:avLst>
              <a:gd name="adj" fmla="val 8000"/>
            </a:avLst>
          </a:prstGeom>
          <a:solidFill>
            <a:srgbClr val="8CA6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150" b="1">
                <a:solidFill>
                  <a:srgbClr val="292B2D"/>
                </a:solidFill>
                <a:latin typeface="Arial"/>
              </a:rPr>
              <a:t>WCL</a:t>
            </a:r>
          </a:p>
          <a:p>
            <a:pPr algn="ctr"/>
            <a:r>
              <a:rPr sz="1150" b="0">
                <a:solidFill>
                  <a:srgbClr val="292B2D"/>
                </a:solidFill>
                <a:latin typeface="Arial"/>
              </a:rPr>
              <a:t>(API)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1337" y="2240280"/>
            <a:ext cx="3094329" cy="1159002"/>
          </a:xfrm>
          <a:prstGeom prst="roundRect">
            <a:avLst>
              <a:gd name="adj" fmla="val 8000"/>
            </a:avLst>
          </a:prstGeom>
          <a:solidFill>
            <a:srgbClr val="8CA6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150" b="1">
                <a:solidFill>
                  <a:srgbClr val="292B2D"/>
                </a:solidFill>
                <a:latin typeface="Arial"/>
              </a:rPr>
              <a:t>SPQ+</a:t>
            </a:r>
          </a:p>
          <a:p>
            <a:pPr algn="ctr"/>
            <a:r>
              <a:rPr sz="1150" b="0">
                <a:solidFill>
                  <a:srgbClr val="292B2D"/>
                </a:solidFill>
                <a:latin typeface="Arial"/>
              </a:rPr>
              <a:t>(API)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6835" y="2240280"/>
            <a:ext cx="3094329" cy="1159002"/>
          </a:xfrm>
          <a:prstGeom prst="roundRect">
            <a:avLst>
              <a:gd name="adj" fmla="val 8000"/>
            </a:avLst>
          </a:prstGeom>
          <a:solidFill>
            <a:srgbClr val="8CA6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150" b="1">
                <a:solidFill>
                  <a:srgbClr val="292B2D"/>
                </a:solidFill>
                <a:latin typeface="Arial"/>
              </a:rPr>
              <a:t>PinQ</a:t>
            </a:r>
          </a:p>
          <a:p>
            <a:pPr algn="ctr"/>
            <a:r>
              <a:rPr sz="1150" b="0">
                <a:solidFill>
                  <a:srgbClr val="292B2D"/>
                </a:solidFill>
                <a:latin typeface="Arial"/>
              </a:rPr>
              <a:t>(API)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92332" y="2240280"/>
            <a:ext cx="3094329" cy="1159002"/>
          </a:xfrm>
          <a:prstGeom prst="roundRect">
            <a:avLst>
              <a:gd name="adj" fmla="val 8000"/>
            </a:avLst>
          </a:prstGeom>
          <a:solidFill>
            <a:srgbClr val="8CA6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150" b="1">
                <a:solidFill>
                  <a:srgbClr val="292B2D"/>
                </a:solidFill>
                <a:latin typeface="Arial"/>
              </a:rPr>
              <a:t>Inventario por planta</a:t>
            </a:r>
          </a:p>
          <a:p>
            <a:pPr algn="ctr"/>
            <a:r>
              <a:rPr sz="1150" b="0">
                <a:solidFill>
                  <a:srgbClr val="292B2D"/>
                </a:solidFill>
                <a:latin typeface="Arial"/>
              </a:rPr>
              <a:t>(API)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87830" y="2240280"/>
            <a:ext cx="3094329" cy="1159002"/>
          </a:xfrm>
          <a:prstGeom prst="roundRect">
            <a:avLst>
              <a:gd name="adj" fmla="val 8000"/>
            </a:avLst>
          </a:prstGeom>
          <a:solidFill>
            <a:srgbClr val="8CA6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150" b="1">
                <a:solidFill>
                  <a:srgbClr val="292B2D"/>
                </a:solidFill>
                <a:latin typeface="Arial"/>
              </a:rPr>
              <a:t>Catálogo de designaciones</a:t>
            </a:r>
          </a:p>
          <a:p>
            <a:pPr algn="ctr"/>
            <a:r>
              <a:rPr sz="1150" b="0">
                <a:solidFill>
                  <a:srgbClr val="292B2D"/>
                </a:solidFill>
                <a:latin typeface="Arial"/>
              </a:rPr>
              <a:t>y homólogos (API)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942832" y="3426714"/>
            <a:ext cx="402336" cy="265176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19322"/>
            <a:ext cx="1627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2. Capa complementaria de integración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039361"/>
            <a:ext cx="8037576" cy="1159002"/>
          </a:xfrm>
          <a:prstGeom prst="roundRect">
            <a:avLst>
              <a:gd name="adj" fmla="val 8000"/>
            </a:avLst>
          </a:prstGeom>
          <a:solidFill>
            <a:srgbClr val="5B7F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API Gateway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(capa complementaria, no modifica el core WCL)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44584" y="4039361"/>
            <a:ext cx="8037576" cy="1159002"/>
          </a:xfrm>
          <a:prstGeom prst="roundRect">
            <a:avLst>
              <a:gd name="adj" fmla="val 8000"/>
            </a:avLst>
          </a:prstGeom>
          <a:solidFill>
            <a:srgbClr val="5B7FB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Detección de estado de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conexión con fábricas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942832" y="5225796"/>
            <a:ext cx="402336" cy="265176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18403"/>
            <a:ext cx="1627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3. Motor de IA y base de conocimiento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838443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Base de conocimiento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(designaciones, homólogos, histórico)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8335" y="5838443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Motor de validación /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buscador inteligente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90831" y="5838443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Cola de pedidos con copia local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Arial"/>
              </a:rPr>
              <a:t>de inventario (sección 3.3, a validar)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42832" y="7024877"/>
            <a:ext cx="402336" cy="265176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7317486"/>
            <a:ext cx="1627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Arial"/>
              </a:rPr>
              <a:t>4. Canales y resultados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7637525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BAC8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292B2D"/>
                </a:solidFill>
                <a:latin typeface="Arial"/>
              </a:rPr>
              <a:t>Chatbot de</a:t>
            </a:r>
          </a:p>
          <a:p>
            <a:pPr algn="ctr"/>
            <a:r>
              <a:rPr sz="1250" b="0">
                <a:solidFill>
                  <a:srgbClr val="292B2D"/>
                </a:solidFill>
                <a:latin typeface="Arial"/>
              </a:rPr>
              <a:t>Servicio al Cliente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8335" y="7637525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BAC8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292B2D"/>
                </a:solidFill>
                <a:latin typeface="Arial"/>
              </a:rPr>
              <a:t>Buscador/validador en el</a:t>
            </a:r>
          </a:p>
          <a:p>
            <a:pPr algn="ctr"/>
            <a:r>
              <a:rPr sz="1250" b="0">
                <a:solidFill>
                  <a:srgbClr val="292B2D"/>
                </a:solidFill>
                <a:latin typeface="Arial"/>
              </a:rPr>
              <a:t>flujo de cotización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90831" y="7637525"/>
            <a:ext cx="5291328" cy="1159002"/>
          </a:xfrm>
          <a:prstGeom prst="roundRect">
            <a:avLst>
              <a:gd name="adj" fmla="val 8000"/>
            </a:avLst>
          </a:prstGeom>
          <a:solidFill>
            <a:srgbClr val="BAC8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/>
            <a:r>
              <a:rPr sz="1250" b="1">
                <a:solidFill>
                  <a:srgbClr val="292B2D"/>
                </a:solidFill>
                <a:latin typeface="Arial"/>
              </a:rPr>
              <a:t>Dashboard de métricas</a:t>
            </a:r>
          </a:p>
          <a:p>
            <a:pPr algn="ctr"/>
            <a:r>
              <a:rPr sz="1250" b="0">
                <a:solidFill>
                  <a:srgbClr val="292B2D"/>
                </a:solidFill>
                <a:latin typeface="Arial"/>
              </a:rPr>
              <a:t>de impacto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9573767"/>
            <a:ext cx="1627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Arial"/>
              </a:rPr>
              <a:t>Se asume que WCL, SPQ+, PinQ e inventario exponen API de lectura (y de escritura donde aplique) integrable sin modificar el sistema obligatorio a nivel grupo SKF. El diseño técnico final de cada integración se confirma en la Fase 1 (levantamiento) y se cierra en la Fase 2 (diseño de arquitectura).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3441F2C7E6F243709496AD6790FF4313_13</vt:lpwstr>
  </property>
  <property fmtid="{D5CDD505-2E9C-101B-9397-08002B2CF9AE}" pid="3" name="KSOProductBuildVer">
    <vt:lpwstr>1033-12.2.0.23131</vt:lpwstr>
  </property>
</Properties>
</file>